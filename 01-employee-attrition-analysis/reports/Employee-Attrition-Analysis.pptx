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embeddedFontLst>
    <p:embeddedFont>
      <p:font typeface="Inter" panose="020B0604020202020204" charset="0"/>
      <p:regular r:id="rId18"/>
    </p:embeddedFont>
    <p:embeddedFont>
      <p:font typeface="Inter 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1ADE50-7D44-40E6-A16C-5C28D95403DC}" v="7" dt="2026-08-10T09:52:47.1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5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0640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3753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85681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73240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28418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905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16949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0910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71476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Employee Attrition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071167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ABC Manufacturing Ltd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505224"/>
            <a:ext cx="4722763" cy="1066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 </a:t>
            </a: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Ogheneughwe Godwin AKISE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Junior Data Scientist at AnalystLab Africa Consulting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why employees are leaving before investing in predictive machine learning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873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Agenda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0523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-33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627138"/>
            <a:ext cx="4004965" cy="1905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96119" y="1736080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problem and objective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42842" y="140523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-33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2842" y="1627138"/>
            <a:ext cx="4005039" cy="1905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642842" y="1736080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outline and approach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6119" y="220555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-33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6119" y="2427461"/>
            <a:ext cx="4004965" cy="1905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96119" y="2536403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Analysis objectives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42842" y="2205558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-33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42842" y="2427461"/>
            <a:ext cx="4005039" cy="1905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642842" y="2536403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Executive summary of findings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96119" y="30058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-33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3227784"/>
            <a:ext cx="4004965" cy="1905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96119" y="3336727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business questions answered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42842" y="3005882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-33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42842" y="3227784"/>
            <a:ext cx="4005039" cy="1905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4642842" y="3336727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insights from the data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96119" y="380620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-33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07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6119" y="4028108"/>
            <a:ext cx="4004965" cy="1905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96119" y="4137050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Recommendations for HR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642842" y="380620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kern="0" spc="-33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08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42842" y="4028108"/>
            <a:ext cx="4005039" cy="1905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642842" y="4137050"/>
            <a:ext cx="40050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 discussion and Q&amp;A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0514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kern="0" spc="-7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Outline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96119" y="1069851"/>
            <a:ext cx="294010" cy="294010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545083" y="1094296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4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0605" y="1114723"/>
            <a:ext cx="773727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Understand the business problem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96119" y="1604814"/>
            <a:ext cx="294010" cy="294010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45083" y="1629259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4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0605" y="1649685"/>
            <a:ext cx="773727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loading and inspection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0605" y="1926059"/>
            <a:ext cx="773727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IBM HR Analytics dataset — 1,470 employees and 35 variables, no missing or duplicate records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6119" y="2367855"/>
            <a:ext cx="294010" cy="294010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45083" y="2392300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4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0605" y="2412727"/>
            <a:ext cx="773727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Exploratory data analysis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0605" y="2689101"/>
            <a:ext cx="773727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Covering workforce demographics and attrition drivers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6119" y="3130897"/>
            <a:ext cx="294010" cy="294010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45083" y="3155342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4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0605" y="3175769"/>
            <a:ext cx="773727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Correlation analysis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0605" y="3452143"/>
            <a:ext cx="7737277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kern="0" spc="-2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flag variables relevant for future predictive modelling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6119" y="3893939"/>
            <a:ext cx="294010" cy="294010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45083" y="3918384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4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0605" y="3938811"/>
            <a:ext cx="773727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insights report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96119" y="4428902"/>
            <a:ext cx="294010" cy="294010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45083" y="4453347"/>
            <a:ext cx="196007" cy="2450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kern="0" spc="-4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0605" y="4473773"/>
            <a:ext cx="773727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3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Recommendations for reducing attrition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24247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179835"/>
            <a:ext cx="2290465" cy="1989013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4085927" y="1340644"/>
            <a:ext cx="19688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Problem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85927" y="1647155"/>
            <a:ext cx="196884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ABC Manufacturing Ltd is experiencing employee attrition and HR wants answers before investing in machine learning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179835"/>
            <a:ext cx="2290539" cy="1989013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518151" y="1340644"/>
            <a:ext cx="1968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Objective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18151" y="1647155"/>
            <a:ext cx="1968922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the IBM HR dataset to understand workforce characteristics and identify factors associated with employee attrition through exploratory data analysis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310607"/>
            <a:ext cx="4722763" cy="1308571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4085927" y="3471416"/>
            <a:ext cx="44011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Guiding Questions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85927" y="3777928"/>
            <a:ext cx="440114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Workforce profile, department level attrition, effect of age, effect of monthly income, effect of overtime, job roles with highest turnover, and variables important for future predictive modelling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3260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Executive Summary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29953"/>
            <a:ext cx="39872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kern="0" spc="-11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1,470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496119" y="2174900"/>
            <a:ext cx="3987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Employees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481411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 variables, no missing or duplicate records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0553" y="1529953"/>
            <a:ext cx="39873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b="1" kern="0" spc="-11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16%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4660553" y="2174900"/>
            <a:ext cx="39873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Attrition Rate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553" y="2481411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237 left vs. 1,233 who stayed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6119" y="2920826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96119" y="3354884"/>
            <a:ext cx="815176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Attrition is concentrated among younger, early career employees, lower earners, and staff who work overtime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Representatives, Laboratory Technicians, and Human Resources roles show the highest turnover rates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Tenure, job level, income, and satisfaction all show a negative relationship with attrition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patterns give HR a clear, actionable starting point before committing budget to predictive modelling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3669"/>
            <a:ext cx="8151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kern="0" spc="-7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Question 1: What Does the Workforce Look Like?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368772"/>
            <a:ext cx="5194622" cy="29435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92713" y="1186011"/>
            <a:ext cx="26599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3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Workforce Profile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992713" y="1480989"/>
            <a:ext cx="2659931" cy="3082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24000"/>
              </a:lnSpc>
              <a:buSzPct val="100000"/>
              <a:buChar char="•"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workforce skews male, with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882 men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versus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588 women</a:t>
            </a:r>
            <a:endParaRPr lang="en-US" sz="950" dirty="0"/>
          </a:p>
          <a:p>
            <a:pPr marL="193040" indent="-193040" algn="l">
              <a:lnSpc>
                <a:spcPct val="124000"/>
              </a:lnSpc>
              <a:buSzPct val="100000"/>
              <a:buChar char="•"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employees are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25 to 40 years old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peaking around 30 to 35</a:t>
            </a:r>
            <a:endParaRPr lang="en-US" sz="950" dirty="0"/>
          </a:p>
          <a:p>
            <a:pPr marL="193040" indent="-193040" algn="l">
              <a:lnSpc>
                <a:spcPct val="124000"/>
              </a:lnSpc>
              <a:buSzPct val="100000"/>
              <a:buChar char="•"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and Development is the largest department with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961 employees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followed by Sales with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446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Human Resources with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63</a:t>
            </a:r>
            <a:endParaRPr lang="en-US" sz="950" dirty="0"/>
          </a:p>
          <a:p>
            <a:pPr marL="193040" indent="-193040" algn="l">
              <a:lnSpc>
                <a:spcPct val="124000"/>
              </a:lnSpc>
              <a:buSzPct val="100000"/>
              <a:buChar char="•"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workforce is highly educated, with the largest group holding a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Bachelor's degree</a:t>
            </a:r>
            <a:endParaRPr lang="en-US" sz="950" dirty="0"/>
          </a:p>
          <a:p>
            <a:pPr marL="193040" indent="-193040" algn="l">
              <a:lnSpc>
                <a:spcPct val="124000"/>
              </a:lnSpc>
              <a:buSzPct val="100000"/>
              <a:buChar char="•"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income is right skewed, with most employees earning between roughly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2,000 and 5,000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 month</a:t>
            </a:r>
            <a:endParaRPr lang="en-US" sz="950" dirty="0"/>
          </a:p>
          <a:p>
            <a:pPr marL="193040" indent="-193040" algn="l">
              <a:lnSpc>
                <a:spcPct val="124000"/>
              </a:lnSpc>
              <a:buSzPct val="100000"/>
              <a:buChar char="•"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Executive, Research Scientist, and Laboratory Technician are the most common job roles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Question 2: Which Departments Have the Highest Attrition?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682154"/>
            <a:ext cx="8151763" cy="456493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5286896"/>
            <a:ext cx="8151763" cy="187747"/>
          </a:xfrm>
          <a:prstGeom prst="roundRect">
            <a:avLst>
              <a:gd name="adj" fmla="val 15857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61" y="5340028"/>
            <a:ext cx="88553" cy="7084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6356" y="5340028"/>
            <a:ext cx="830788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kern="0" spc="-1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and Development has the lowest rate but the largest absolute number of leavers due to its size.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Question 3: Does Age Influence Attrition?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682154"/>
            <a:ext cx="8151763" cy="456493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5286896"/>
            <a:ext cx="4058171" cy="368201"/>
          </a:xfrm>
          <a:prstGeom prst="roundRect">
            <a:avLst>
              <a:gd name="adj" fmla="val 808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571723" y="5362501"/>
            <a:ext cx="390696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Early Career (26–35)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571723" y="5494437"/>
            <a:ext cx="390696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kern="0" spc="-1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group has the </a:t>
            </a:r>
            <a:r>
              <a:rPr lang="en-US" sz="550" b="1" kern="0" spc="-1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largest absolute number</a:t>
            </a:r>
            <a:r>
              <a:rPr lang="en-US" sz="550" kern="0" spc="-1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leavers across all age bands</a:t>
            </a:r>
            <a:endParaRPr lang="en-US" sz="550" dirty="0"/>
          </a:p>
        </p:txBody>
      </p:sp>
      <p:sp>
        <p:nvSpPr>
          <p:cNvPr id="7" name="Shape 4"/>
          <p:cNvSpPr/>
          <p:nvPr/>
        </p:nvSpPr>
        <p:spPr>
          <a:xfrm>
            <a:off x="4589711" y="5286896"/>
            <a:ext cx="4058171" cy="368201"/>
          </a:xfrm>
          <a:prstGeom prst="roundRect">
            <a:avLst>
              <a:gd name="adj" fmla="val 8086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4665315" y="5362501"/>
            <a:ext cx="390696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b="1" kern="0" spc="-2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Young Adults (18–25)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4665315" y="5494437"/>
            <a:ext cx="390696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kern="0" spc="-1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group has the </a:t>
            </a:r>
            <a:r>
              <a:rPr lang="en-US" sz="550" b="1" kern="0" spc="-1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highest proportional attrition</a:t>
            </a:r>
            <a:r>
              <a:rPr lang="en-US" sz="550" kern="0" spc="-1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rate relative to its size</a:t>
            </a:r>
            <a:endParaRPr lang="en-US" sz="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5585"/>
            <a:ext cx="4722763" cy="6645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50" b="1" i="0" u="none" strike="noStrike" kern="0" cap="none" spc="-6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Question 4: Does Monthly Income Affect Retention?</a:t>
            </a:r>
            <a:endParaRPr kumimoji="0" lang="en-US" sz="2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96119" y="1179686"/>
            <a:ext cx="4722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-17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Monthly income has a </a:t>
            </a:r>
            <a:r>
              <a:rPr kumimoji="0" lang="en-US" sz="800" b="1" i="0" u="none" strike="noStrike" kern="0" cap="none" spc="-17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negative correlation of about −0.16</a:t>
            </a:r>
            <a:r>
              <a:rPr kumimoji="0" lang="en-US" sz="800" b="0" i="0" u="none" strike="noStrike" kern="0" cap="none" spc="-17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with attrition — employees who left earned significantly less on average than those who stayed.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1567011"/>
            <a:ext cx="4722763" cy="26446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6119" y="4301356"/>
            <a:ext cx="4722763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-17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Employees who stayed earned an average of </a:t>
            </a:r>
            <a:r>
              <a:rPr kumimoji="0" lang="en-US" sz="800" b="1" i="0" u="none" strike="noStrike" kern="0" cap="none" spc="-17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$6,832/month</a:t>
            </a:r>
            <a:r>
              <a:rPr kumimoji="0" lang="en-US" sz="800" b="0" i="0" u="none" strike="noStrike" kern="0" cap="none" spc="-17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, compared to </a:t>
            </a:r>
            <a:r>
              <a:rPr kumimoji="0" lang="en-US" sz="800" b="1" i="0" u="none" strike="noStrike" kern="0" cap="none" spc="-17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$4,787/month</a:t>
            </a:r>
            <a:r>
              <a:rPr kumimoji="0" lang="en-US" sz="800" b="0" i="0" u="none" strike="noStrike" kern="0" cap="none" spc="-17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for those who left — a gap of over $2,000. This suggests that compensation is a meaningful lever in reducing voluntary turnover.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6092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393353"/>
            <a:ext cx="4722763" cy="650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-6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Question 5: Does Overtime Influence Attrition?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3925119" y="1158701"/>
            <a:ext cx="4722763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-16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Overtime is one of the </a:t>
            </a:r>
            <a:r>
              <a:rPr kumimoji="0" lang="en-US" sz="800" b="1" i="0" u="none" strike="noStrike" kern="0" cap="none" spc="-16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strongest behavioral signals of attrition risk</a:t>
            </a:r>
            <a:r>
              <a:rPr kumimoji="0" lang="en-US" sz="800" b="0" i="0" u="none" strike="noStrike" kern="0" cap="none" spc="-16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in the dataset. Employees who worked overtime left at nearly three times the rate of those who did not.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19" y="1533525"/>
            <a:ext cx="4722763" cy="264467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925119" y="4264149"/>
            <a:ext cx="4722763" cy="485998"/>
          </a:xfrm>
          <a:prstGeom prst="roundRect">
            <a:avLst>
              <a:gd name="adj" fmla="val 8997"/>
            </a:avLst>
          </a:prstGeom>
          <a:solidFill>
            <a:srgbClr val="FCF2B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9224" y="4375398"/>
            <a:ext cx="130076" cy="10410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263405" y="4366543"/>
            <a:ext cx="4280371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-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Employees who worked overtime had a </a:t>
            </a:r>
            <a:r>
              <a:rPr kumimoji="0" lang="en-US" sz="800" b="1" i="0" u="none" strike="noStrike" kern="0" cap="none" spc="-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30.5% attrition rate</a:t>
            </a:r>
            <a:r>
              <a:rPr kumimoji="0" lang="en-US" sz="800" b="0" i="0" u="none" strike="noStrike" kern="0" cap="none" spc="-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— nearly 3× the 10.4% rate of those without overtime. This is a critical risk factor requiring immediate attention.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164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50" b="1" i="0" u="none" strike="noStrike" kern="0" cap="none" spc="-42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Question 6: Which Job Roles Experience the Highest Turnover?</a:t>
            </a: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0" cap="none" spc="-11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Three roles stand out as requiring </a:t>
            </a:r>
            <a:r>
              <a:rPr kumimoji="0" lang="en-US" sz="550" b="1" i="0" u="none" strike="noStrike" kern="0" cap="none" spc="-11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immediate, targeted retention attention</a:t>
            </a:r>
            <a:r>
              <a:rPr kumimoji="0" lang="en-US" sz="550" b="0" i="0" u="none" strike="noStrike" kern="0" cap="none" spc="-11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based on their disproportionately high attrition rates.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07021"/>
            <a:ext cx="8151763" cy="456493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6119" y="5411763"/>
            <a:ext cx="2693640" cy="453256"/>
          </a:xfrm>
          <a:prstGeom prst="roundRect">
            <a:avLst>
              <a:gd name="adj" fmla="val 656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723" y="5487367"/>
            <a:ext cx="254243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0" cap="none" spc="-21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Sales Representative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723" y="5619304"/>
            <a:ext cx="2542431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0" cap="none" spc="-11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39.76% attrition — the highest of any role in the dataset. Nearly 2 in 5 Sales Reps leave.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225180" y="5411763"/>
            <a:ext cx="2693640" cy="453256"/>
          </a:xfrm>
          <a:prstGeom prst="roundRect">
            <a:avLst>
              <a:gd name="adj" fmla="val 656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3300785" y="5487367"/>
            <a:ext cx="254243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0" cap="none" spc="-21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Laboratory Technician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300785" y="5619304"/>
            <a:ext cx="2542431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0" cap="none" spc="-11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23.94% attrition — a significant rate suggesting systemic dissatisfaction or limited growth.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954241" y="5411763"/>
            <a:ext cx="2693640" cy="453256"/>
          </a:xfrm>
          <a:prstGeom prst="roundRect">
            <a:avLst>
              <a:gd name="adj" fmla="val 6568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029846" y="5487367"/>
            <a:ext cx="254243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50" b="1" i="0" u="none" strike="noStrike" kern="0" cap="none" spc="-21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Human Resources</a:t>
            </a:r>
            <a:endParaRPr kumimoji="0" lang="en-US" sz="6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029846" y="5619304"/>
            <a:ext cx="2542431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50" b="0" i="0" u="none" strike="noStrike" kern="0" cap="none" spc="-11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23.08% attrition — notable given HR's role in managing retention for others.</a:t>
            </a:r>
            <a:endParaRPr kumimoji="0" lang="en-US" sz="5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2029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01836"/>
            <a:ext cx="4722763" cy="1162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0" cap="none" spc="-73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Question 7: Which Variables Matter for Predictive Modelling?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496119" y="1835721"/>
            <a:ext cx="221009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-3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Strongest Negative Correlates of Attrition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496119" y="2331913"/>
            <a:ext cx="2210098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0" cap="none" spc="-20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The following variables show the strongest negative relationship with attrition — meaning higher values are associated with employees who </a:t>
            </a:r>
            <a:r>
              <a:rPr kumimoji="0" lang="en-US" sz="950" b="0" i="1" u="none" strike="noStrike" kern="0" cap="none" spc="-20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stay</a:t>
            </a:r>
            <a:r>
              <a:rPr kumimoji="0" lang="en-US" sz="950" b="0" i="0" u="none" strike="noStrike" kern="0" cap="none" spc="-20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496119" y="3173685"/>
            <a:ext cx="2210098" cy="1529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marR="0" lvl="0" indent="-19304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0" cap="none" spc="-20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Total Working Years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93040" marR="0" lvl="0" indent="-19304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0" cap="none" spc="-20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Job Level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93040" marR="0" lvl="0" indent="-19304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0" cap="none" spc="-20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Years In Current Role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93040" marR="0" lvl="0" indent="-19304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0" cap="none" spc="-20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Monthly Income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93040" marR="0" lvl="0" indent="-19304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0" cap="none" spc="-20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Age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93040" marR="0" lvl="0" indent="-19304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0" cap="none" spc="-20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Years With Current Manager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93040" marR="0" lvl="0" indent="-19304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950" b="0" i="0" u="none" strike="noStrike" kern="0" cap="none" spc="-20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Stock Option Level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3013546" y="1835721"/>
            <a:ext cx="22100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-37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Satisfaction Variables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3013546" y="2138065"/>
            <a:ext cx="2210098" cy="930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0" cap="none" spc="-20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Job Satisfaction and Environment Satisfaction also show a negative relationship with attrition — employees who are more satisfied are less likely to leave.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013546" y="3190280"/>
            <a:ext cx="2210098" cy="1001316"/>
          </a:xfrm>
          <a:prstGeom prst="roundRect">
            <a:avLst>
              <a:gd name="adj" fmla="val 5203"/>
            </a:avLst>
          </a:prstGeom>
          <a:solidFill>
            <a:srgbClr val="DADBF1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7520" y="3359348"/>
            <a:ext cx="155004" cy="1239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16498" y="3318867"/>
            <a:ext cx="1683172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These variables are strong candidates for </a:t>
            </a:r>
            <a:r>
              <a:rPr kumimoji="0" lang="en-US" sz="950" b="1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selection</a:t>
            </a:r>
            <a:r>
              <a:rPr kumimoji="0" lang="en-US" sz="950" b="0" i="0" u="none" strike="noStrike" kern="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 in a future predictive attrition model.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1309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8763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0" cap="none" spc="-78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Insights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123206"/>
            <a:ext cx="860896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-21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The analysis surfaces a clear and consistent picture of attrition risk across the workforce. Key findings include: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469306"/>
            <a:ext cx="4013597" cy="9887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00460" y="1616497"/>
            <a:ext cx="36620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-39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 &amp; Career Stage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700460" y="1898898"/>
            <a:ext cx="366206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-21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Younger, early-career employees are disproportionately likely to leave.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4285" y="1469306"/>
            <a:ext cx="4013597" cy="9887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38626" y="1616497"/>
            <a:ext cx="36620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-39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Compensation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5"/>
          <p:cNvSpPr/>
          <p:nvPr/>
        </p:nvSpPr>
        <p:spPr>
          <a:xfrm>
            <a:off x="4838626" y="1898898"/>
            <a:ext cx="366206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-21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Lower monthly income is strongly linked to higher attrition.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582614"/>
            <a:ext cx="4013597" cy="9887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00460" y="2729805"/>
            <a:ext cx="36620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-39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Overtime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7"/>
          <p:cNvSpPr/>
          <p:nvPr/>
        </p:nvSpPr>
        <p:spPr>
          <a:xfrm>
            <a:off x="700460" y="3012207"/>
            <a:ext cx="366206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-21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Working overtime substantially increases the likelihood of leaving.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4285" y="2582614"/>
            <a:ext cx="4013597" cy="9887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38626" y="2729805"/>
            <a:ext cx="36620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-39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High-Risk Roles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9"/>
          <p:cNvSpPr/>
          <p:nvPr/>
        </p:nvSpPr>
        <p:spPr>
          <a:xfrm>
            <a:off x="4838626" y="3012207"/>
            <a:ext cx="366206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-21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Sales Representatives, Laboratory Technicians, and Human Resources staff face the highest turnover of any role.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695923"/>
            <a:ext cx="4013597" cy="9887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00460" y="3843114"/>
            <a:ext cx="36620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-39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Tenure &amp; Satisfaction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700460" y="4125516"/>
            <a:ext cx="366206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-21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Employees with less tenure, lower job level, and lower job or environment satisfaction are more likely to leave.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34285" y="3695923"/>
            <a:ext cx="4013597" cy="9887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838626" y="3843114"/>
            <a:ext cx="3662065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-39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Quality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3"/>
          <p:cNvSpPr/>
          <p:nvPr/>
        </p:nvSpPr>
        <p:spPr>
          <a:xfrm>
            <a:off x="4838626" y="4125516"/>
            <a:ext cx="3662065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spc="-21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No missing or duplicate data issues were found, so the dataset is reliable for further analysis and future modelling.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8883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0526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00" b="1" i="0" u="none" strike="noStrike" kern="0" cap="none" spc="-6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Recommendations for HR</a:t>
            </a:r>
            <a:endParaRPr kumimoji="0" lang="en-US" sz="2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025872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6786" y="1046187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-38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3317" y="1063154"/>
            <a:ext cx="782456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-32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Early-Career Retention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3317" y="1282526"/>
            <a:ext cx="782456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0" cap="none" spc="-17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Target retention programs at younger and early-career employees through mentorship, clear growth paths, and regular feedback.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96119" y="1601986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36786" y="1622301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-38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3317" y="1639267"/>
            <a:ext cx="782456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-32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Compensation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3317" y="1858640"/>
            <a:ext cx="782456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0" cap="none" spc="-17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Review compensation and benefits for lower-income roles, including base pay, performance bonuses, and benefits packages.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96119" y="2178100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6786" y="2198415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-38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3317" y="2215381"/>
            <a:ext cx="782456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-32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Address Overtime Culture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3317" y="2434754"/>
            <a:ext cx="782456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0" cap="none" spc="-17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Address the overtime culture through workload monitoring, flexible arrangements, and burnout prevention programs.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96119" y="2754213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6786" y="2774528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-38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3317" y="2791495"/>
            <a:ext cx="782456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-32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Investigate High-Turnover Roles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3317" y="3010867"/>
            <a:ext cx="7824564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0" cap="none" spc="-17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Investigate high-turnover roles such as Sales Representative, Laboratory Technician, and Human Resources through exit interviews and focus groups, then act on the findings.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96119" y="3483620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36786" y="3503935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-38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3317" y="3520901"/>
            <a:ext cx="782456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-32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Strengthen Engagement &amp; Satisfaction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3317" y="3740274"/>
            <a:ext cx="7824564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0" cap="none" spc="-17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Strengthen employee engagement and satisfaction by improving job and environment satisfaction, fostering an inclusive culture, and ensuring transparent promotion processes.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96119" y="4213027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36786" y="4233342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0" cap="none" spc="-38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23317" y="4250308"/>
            <a:ext cx="782456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0" cap="none" spc="-32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Next Step: Predictive Modelling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23317" y="4469681"/>
            <a:ext cx="782456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0" cap="none" spc="-17" normalizeH="0" baseline="0" noProof="0" dirty="0">
                <a:ln>
                  <a:noFill/>
                </a:ln>
                <a:solidFill>
                  <a:srgbClr val="272525"/>
                </a:solidFill>
                <a:effectLst/>
                <a:uLnTx/>
                <a:uFillTx/>
                <a:latin typeface="Inter" pitchFamily="34" charset="0"/>
                <a:ea typeface="Inter" pitchFamily="34" charset="-122"/>
                <a:cs typeface="Inter" pitchFamily="34" charset="-120"/>
              </a:rPr>
              <a:t>Once retention drivers are addressed and monitored, revisit the case for investing in a predictive attrition model using the variables identified in this analysis.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24986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3257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50" b="1" i="0" u="none" strike="noStrike" kern="0" cap="none" spc="-8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kumimoji="0" lang="en-US" sz="2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3925119" y="2288158"/>
            <a:ext cx="4722763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50" b="1" i="0" u="none" strike="noStrike" kern="0" cap="none" spc="-116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Questions and Discussion</a:t>
            </a:r>
            <a:endParaRPr kumimoji="0" lang="en-US" sz="3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5789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1112</Words>
  <Application>Microsoft Office PowerPoint</Application>
  <PresentationFormat>On-screen Show (16:9)</PresentationFormat>
  <Paragraphs>148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Inter</vt:lpstr>
      <vt:lpstr>Inter Light</vt:lpstr>
      <vt:lpstr>Inter Bold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ang</dc:creator>
  <cp:lastModifiedBy>Ogheneughwe Godwin AKISE</cp:lastModifiedBy>
  <cp:revision>2</cp:revision>
  <dcterms:created xsi:type="dcterms:W3CDTF">2026-08-10T08:46:12Z</dcterms:created>
  <dcterms:modified xsi:type="dcterms:W3CDTF">2026-08-10T09:55:04Z</dcterms:modified>
</cp:coreProperties>
</file>